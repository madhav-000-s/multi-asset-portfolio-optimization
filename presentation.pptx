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4E7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48272"/>
            <a:ext cx="9144000" cy="109728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2560320"/>
            <a:ext cx="228600" cy="1828800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82296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>
                <a:solidFill>
                  <a:srgbClr val="FFFFFF"/>
                </a:solidFill>
              </a:rPr>
              <a:t>Deep Portfolio Optimization
Using DSR + Sentiment-Augmented LSTM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3108960"/>
            <a:ext cx="8046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>
                <a:solidFill>
                  <a:srgbClr val="AED6F1"/>
                </a:solidFill>
              </a:rPr>
              <a:t>Architecture Deep Dive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3749039"/>
            <a:ext cx="8046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7F8C8D"/>
                </a:solidFill>
              </a:rPr>
              <a:t>With a special focus on R's role in the pipeline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5120640"/>
            <a:ext cx="8046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AED6F1"/>
                </a:solidFill>
              </a:rPr>
              <a:t>Python  ·  R  ·  PyTorch  ·  reticulate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3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23444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64592"/>
            <a:ext cx="8412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</a:rPr>
              <a:t>What Are We Building?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822960"/>
            <a:ext cx="8412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AED6F1"/>
                </a:solidFill>
              </a:rPr>
              <a:t>A casual overview — no jargon required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37160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F4E79"/>
                </a:solidFill>
              </a:rPr>
              <a:t>The big idea: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737360"/>
            <a:ext cx="5029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2C3E50"/>
                </a:solidFill>
              </a:rPr>
              <a:t>"Use deep learning to figure out how to split money across 5 big tech stocks, then let R double-check that we're not taking crazy risks."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3246120"/>
            <a:ext cx="548640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2C3E50"/>
                </a:solidFill>
              </a:rPr>
              <a:t>•  We have 5 assets: AAPL, MSFT, GOOGL, AMZN, META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3593591"/>
            <a:ext cx="548640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2C3E50"/>
                </a:solidFill>
              </a:rPr>
              <a:t>•  An LSTM reads 60 days of price history each week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941063"/>
            <a:ext cx="548640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2C3E50"/>
                </a:solidFill>
              </a:rPr>
              <a:t>•  It spits out 5 weights  (e.g. 30% Apple, 20% Google…)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288536"/>
            <a:ext cx="548640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2C3E50"/>
                </a:solidFill>
              </a:rPr>
              <a:t>•  R then checks: are those weights safe? Too concentrated?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4636008"/>
            <a:ext cx="548640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2C3E50"/>
                </a:solidFill>
              </a:rPr>
              <a:t>•  R runs the backtest and measures how good we'd have done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4983479"/>
            <a:ext cx="548640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2C3E50"/>
                </a:solidFill>
              </a:rPr>
              <a:t>•  A Streamlit dashboard shows it all live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00800" y="1463040"/>
            <a:ext cx="2377440" cy="91440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0">
                <a:solidFill>
                  <a:srgbClr val="FFFFFF"/>
                </a:solidFill>
              </a:rPr>
              <a:t>Training data
2018 – 2024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400800" y="2560320"/>
            <a:ext cx="2377440" cy="914400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0">
                <a:solidFill>
                  <a:srgbClr val="FFFFFF"/>
                </a:solidFill>
              </a:rPr>
              <a:t>Test period
Dec 2023 – Dec 2024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400800" y="3657600"/>
            <a:ext cx="2377440" cy="914400"/>
          </a:xfrm>
          <a:prstGeom prst="rect">
            <a:avLst/>
          </a:prstGeom>
          <a:solidFill>
            <a:srgbClr val="2E86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0">
                <a:solidFill>
                  <a:srgbClr val="FFFFFF"/>
                </a:solidFill>
              </a:rPr>
              <a:t>Rebalance
Every week · 10 bps cost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3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23444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64592"/>
            <a:ext cx="8412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</a:rPr>
              <a:t>System Architecture — 5 Layers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822960"/>
            <a:ext cx="8412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AED6F1"/>
                </a:solidFill>
              </a:rPr>
              <a:t>Each layer feeds the next; Python hands off to R at Layer 4</a:t>
            </a:r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188720"/>
            <a:ext cx="8595360" cy="54864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3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23444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64592"/>
            <a:ext cx="8412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</a:rPr>
              <a:t>Data Flow — End to End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822960"/>
            <a:ext cx="8412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AED6F1"/>
                </a:solidFill>
              </a:rPr>
              <a:t>From raw Yahoo Finance data to an interactive dashboard</a:t>
            </a:r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1188720"/>
            <a:ext cx="8778240" cy="539496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3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234440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64592"/>
            <a:ext cx="8412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</a:rPr>
              <a:t>Layer 1 — Data Ingestion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822960"/>
            <a:ext cx="8412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AED6F1"/>
                </a:solidFill>
              </a:rPr>
              <a:t>Pulling price history and news headlines from the web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371600"/>
            <a:ext cx="2560320" cy="640080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0">
                <a:solidFill>
                  <a:srgbClr val="FFFFFF"/>
                </a:solidFill>
              </a:rPr>
              <a:t>Prices (yfinance)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2103120"/>
            <a:ext cx="292608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2C3E50"/>
                </a:solidFill>
              </a:rPr>
              <a:t>•  Daily OHLCV for 5 tickers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2450591"/>
            <a:ext cx="292608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2C3E50"/>
                </a:solidFill>
              </a:rPr>
              <a:t>•  2018-01-01 → 2024-12-31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2798063"/>
            <a:ext cx="292608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2C3E50"/>
                </a:solidFill>
              </a:rPr>
              <a:t>•  Saved as prices.parquet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3145536"/>
            <a:ext cx="292608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2C3E50"/>
                </a:solidFill>
              </a:rPr>
              <a:t>•  Delta-updated for live mode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0" y="1371600"/>
            <a:ext cx="2926080" cy="640080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0">
                <a:solidFill>
                  <a:srgbClr val="FFFFFF"/>
                </a:solidFill>
              </a:rPr>
              <a:t>News Headlines (Alpha Vantage)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0" y="2103120"/>
            <a:ext cx="292608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2C3E50"/>
                </a:solidFill>
              </a:rPr>
              <a:t>•  Historical articles per ticker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0" y="2450591"/>
            <a:ext cx="292608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2C3E50"/>
                </a:solidFill>
              </a:rPr>
              <a:t>•  Free API — 25 req/day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0" y="2798063"/>
            <a:ext cx="292608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2C3E50"/>
                </a:solidFill>
              </a:rPr>
              <a:t>•  Saved as headlines.csv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0" y="3145536"/>
            <a:ext cx="292608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2C3E50"/>
                </a:solidFill>
              </a:rPr>
              <a:t>•  Also yfinance recent news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858000" y="1371600"/>
            <a:ext cx="1920240" cy="64008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0">
                <a:solidFill>
                  <a:srgbClr val="FFFFFF"/>
                </a:solidFill>
              </a:rPr>
              <a:t>config.yaml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58000" y="2103120"/>
            <a:ext cx="192024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2C3E50"/>
                </a:solidFill>
              </a:rPr>
              <a:t>•  Asset universe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58000" y="2450591"/>
            <a:ext cx="192024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2C3E50"/>
                </a:solidFill>
              </a:rPr>
              <a:t>•  Date range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58000" y="2798063"/>
            <a:ext cx="192024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2C3E50"/>
                </a:solidFill>
              </a:rPr>
              <a:t>•  Hyper-parameters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58000" y="3145536"/>
            <a:ext cx="192024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2C3E50"/>
                </a:solidFill>
              </a:rPr>
              <a:t>•  Constraint limits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5760" y="5120640"/>
            <a:ext cx="8412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7F8C8D"/>
                </a:solidFill>
              </a:rPr>
              <a:t>Why parquet?  Columnar format → 10× faster than CSV for financial time-series. Delta updates append only new rows → no re-downloading 6 years of data every refresh.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3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234440"/>
          </a:xfrm>
          <a:prstGeom prst="rect">
            <a:avLst/>
          </a:prstGeom>
          <a:solidFill>
            <a:srgbClr val="5D6D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64592"/>
            <a:ext cx="8412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</a:rPr>
              <a:t>Layer 2 — Feature Engineering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822960"/>
            <a:ext cx="8412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AED6F1"/>
                </a:solidFill>
              </a:rPr>
              <a:t>Turning raw prices into a rich 3D tensor the LSTM can read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325880"/>
            <a:ext cx="2377440" cy="384048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FFFFFF"/>
                </a:solidFill>
              </a:rPr>
              <a:t>Feature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0" y="1325880"/>
            <a:ext cx="2834640" cy="384048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FFFFFF"/>
                </a:solidFill>
              </a:rPr>
              <a:t>Formula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0" y="1325880"/>
            <a:ext cx="3200400" cy="384048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FFFFFF"/>
                </a:solidFill>
              </a:rPr>
              <a:t>What it captures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" y="1737360"/>
            <a:ext cx="2377440" cy="438912"/>
          </a:xfrm>
          <a:prstGeom prst="rect">
            <a:avLst/>
          </a:prstGeom>
          <a:solidFill>
            <a:srgbClr val="F2F3F4"/>
          </a:solidFill>
          <a:ln w="12700">
            <a:solidFill>
              <a:srgbClr val="7F8C8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0">
                <a:solidFill>
                  <a:srgbClr val="2C3E50"/>
                </a:solidFill>
              </a:rPr>
              <a:t>Log Return</a:t>
            </a:r>
          </a:p>
        </p:txBody>
      </p:sp>
      <p:sp>
        <p:nvSpPr>
          <p:cNvPr id="9" name="Rectangle 8"/>
          <p:cNvSpPr/>
          <p:nvPr/>
        </p:nvSpPr>
        <p:spPr>
          <a:xfrm>
            <a:off x="2743200" y="1737360"/>
            <a:ext cx="2834640" cy="438912"/>
          </a:xfrm>
          <a:prstGeom prst="rect">
            <a:avLst/>
          </a:prstGeom>
          <a:solidFill>
            <a:srgbClr val="F2F3F4"/>
          </a:solidFill>
          <a:ln w="12700">
            <a:solidFill>
              <a:srgbClr val="7F8C8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0">
                <a:solidFill>
                  <a:srgbClr val="2C3E50"/>
                </a:solidFill>
              </a:rPr>
              <a:t>ln(P_t / P_{t-1})</a:t>
            </a:r>
          </a:p>
        </p:txBody>
      </p:sp>
      <p:sp>
        <p:nvSpPr>
          <p:cNvPr id="10" name="Rectangle 9"/>
          <p:cNvSpPr/>
          <p:nvPr/>
        </p:nvSpPr>
        <p:spPr>
          <a:xfrm>
            <a:off x="5669280" y="1737360"/>
            <a:ext cx="3200400" cy="438912"/>
          </a:xfrm>
          <a:prstGeom prst="rect">
            <a:avLst/>
          </a:prstGeom>
          <a:solidFill>
            <a:srgbClr val="F2F3F4"/>
          </a:solidFill>
          <a:ln w="12700">
            <a:solidFill>
              <a:srgbClr val="7F8C8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0">
                <a:solidFill>
                  <a:srgbClr val="2C3E50"/>
                </a:solidFill>
              </a:rPr>
              <a:t>Daily price momentum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4320" y="2212848"/>
            <a:ext cx="237744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7F8C8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0">
                <a:solidFill>
                  <a:srgbClr val="2C3E50"/>
                </a:solidFill>
              </a:rPr>
              <a:t>Rolling Vol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743200" y="2212848"/>
            <a:ext cx="283464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7F8C8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0">
                <a:solidFill>
                  <a:srgbClr val="2C3E50"/>
                </a:solidFill>
              </a:rPr>
              <a:t>20d std × √252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669280" y="2212848"/>
            <a:ext cx="320040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7F8C8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0">
                <a:solidFill>
                  <a:srgbClr val="2C3E50"/>
                </a:solidFill>
              </a:rPr>
              <a:t>Annualised volatility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74320" y="2688336"/>
            <a:ext cx="2377440" cy="438912"/>
          </a:xfrm>
          <a:prstGeom prst="rect">
            <a:avLst/>
          </a:prstGeom>
          <a:solidFill>
            <a:srgbClr val="F2F3F4"/>
          </a:solidFill>
          <a:ln w="12700">
            <a:solidFill>
              <a:srgbClr val="7F8C8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0">
                <a:solidFill>
                  <a:srgbClr val="2C3E50"/>
                </a:solidFill>
              </a:rPr>
              <a:t>RSI-14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743200" y="2688336"/>
            <a:ext cx="2834640" cy="438912"/>
          </a:xfrm>
          <a:prstGeom prst="rect">
            <a:avLst/>
          </a:prstGeom>
          <a:solidFill>
            <a:srgbClr val="F2F3F4"/>
          </a:solidFill>
          <a:ln w="12700">
            <a:solidFill>
              <a:srgbClr val="7F8C8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0">
                <a:solidFill>
                  <a:srgbClr val="2C3E50"/>
                </a:solidFill>
              </a:rPr>
              <a:t>Relative Strength Index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669280" y="2688336"/>
            <a:ext cx="3200400" cy="438912"/>
          </a:xfrm>
          <a:prstGeom prst="rect">
            <a:avLst/>
          </a:prstGeom>
          <a:solidFill>
            <a:srgbClr val="F2F3F4"/>
          </a:solidFill>
          <a:ln w="12700">
            <a:solidFill>
              <a:srgbClr val="7F8C8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0">
                <a:solidFill>
                  <a:srgbClr val="2C3E50"/>
                </a:solidFill>
              </a:rPr>
              <a:t>Overbought / oversold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74320" y="3163824"/>
            <a:ext cx="237744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7F8C8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0">
                <a:solidFill>
                  <a:srgbClr val="2C3E50"/>
                </a:solidFill>
              </a:rPr>
              <a:t>MACD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743200" y="3163824"/>
            <a:ext cx="283464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7F8C8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0">
                <a:solidFill>
                  <a:srgbClr val="2C3E50"/>
                </a:solidFill>
              </a:rPr>
              <a:t>EMA(12) − EMA(26) signal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669280" y="3163824"/>
            <a:ext cx="320040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7F8C8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0">
                <a:solidFill>
                  <a:srgbClr val="2C3E50"/>
                </a:solidFill>
              </a:rPr>
              <a:t>Trend direction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74320" y="3639312"/>
            <a:ext cx="2377440" cy="438912"/>
          </a:xfrm>
          <a:prstGeom prst="rect">
            <a:avLst/>
          </a:prstGeom>
          <a:solidFill>
            <a:srgbClr val="F2F3F4"/>
          </a:solidFill>
          <a:ln w="12700">
            <a:solidFill>
              <a:srgbClr val="7F8C8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0">
                <a:solidFill>
                  <a:srgbClr val="2C3E50"/>
                </a:solidFill>
              </a:rPr>
              <a:t>Bollinger %B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743200" y="3639312"/>
            <a:ext cx="2834640" cy="438912"/>
          </a:xfrm>
          <a:prstGeom prst="rect">
            <a:avLst/>
          </a:prstGeom>
          <a:solidFill>
            <a:srgbClr val="F2F3F4"/>
          </a:solidFill>
          <a:ln w="12700">
            <a:solidFill>
              <a:srgbClr val="7F8C8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0">
                <a:solidFill>
                  <a:srgbClr val="2C3E50"/>
                </a:solidFill>
              </a:rPr>
              <a:t>(Price − lower) / (upper−lower)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669280" y="3639312"/>
            <a:ext cx="3200400" cy="438912"/>
          </a:xfrm>
          <a:prstGeom prst="rect">
            <a:avLst/>
          </a:prstGeom>
          <a:solidFill>
            <a:srgbClr val="F2F3F4"/>
          </a:solidFill>
          <a:ln w="12700">
            <a:solidFill>
              <a:srgbClr val="7F8C8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0">
                <a:solidFill>
                  <a:srgbClr val="2C3E50"/>
                </a:solidFill>
              </a:rPr>
              <a:t>Band position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74320" y="4114800"/>
            <a:ext cx="237744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7F8C8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0">
                <a:solidFill>
                  <a:srgbClr val="2C3E50"/>
                </a:solidFill>
              </a:rPr>
              <a:t>SMA Ratio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743200" y="4114800"/>
            <a:ext cx="283464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7F8C8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0">
                <a:solidFill>
                  <a:srgbClr val="2C3E50"/>
                </a:solidFill>
              </a:rPr>
              <a:t>SMA(50) / SMA(200)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669280" y="4114800"/>
            <a:ext cx="320040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7F8C8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0">
                <a:solidFill>
                  <a:srgbClr val="2C3E50"/>
                </a:solidFill>
              </a:rPr>
              <a:t>Golden/death cross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74320" y="4590288"/>
            <a:ext cx="2377440" cy="438912"/>
          </a:xfrm>
          <a:prstGeom prst="rect">
            <a:avLst/>
          </a:prstGeom>
          <a:solidFill>
            <a:srgbClr val="F2F3F4"/>
          </a:solidFill>
          <a:ln w="12700">
            <a:solidFill>
              <a:srgbClr val="7F8C8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0">
                <a:solidFill>
                  <a:srgbClr val="2C3E50"/>
                </a:solidFill>
              </a:rPr>
              <a:t>Sentiment *</a:t>
            </a:r>
          </a:p>
        </p:txBody>
      </p:sp>
      <p:sp>
        <p:nvSpPr>
          <p:cNvPr id="27" name="Rectangle 26"/>
          <p:cNvSpPr/>
          <p:nvPr/>
        </p:nvSpPr>
        <p:spPr>
          <a:xfrm>
            <a:off x="2743200" y="4590288"/>
            <a:ext cx="2834640" cy="438912"/>
          </a:xfrm>
          <a:prstGeom prst="rect">
            <a:avLst/>
          </a:prstGeom>
          <a:solidFill>
            <a:srgbClr val="F2F3F4"/>
          </a:solidFill>
          <a:ln w="12700">
            <a:solidFill>
              <a:srgbClr val="7F8C8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0">
                <a:solidFill>
                  <a:srgbClr val="2C3E50"/>
                </a:solidFill>
              </a:rPr>
              <a:t>P(pos) − P(neg)  via FinBERT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669280" y="4590288"/>
            <a:ext cx="3200400" cy="438912"/>
          </a:xfrm>
          <a:prstGeom prst="rect">
            <a:avLst/>
          </a:prstGeom>
          <a:solidFill>
            <a:srgbClr val="F2F3F4"/>
          </a:solidFill>
          <a:ln w="12700">
            <a:solidFill>
              <a:srgbClr val="7F8C8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0">
                <a:solidFill>
                  <a:srgbClr val="2C3E50"/>
                </a:solidFill>
              </a:rPr>
              <a:t>News alpha signal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74320" y="5166360"/>
            <a:ext cx="85953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7F8C8D"/>
                </a:solidFill>
              </a:rPr>
              <a:t>* Sentiment is the 7th feature — optional, enabled via config.yaml. Output tensor: (batch, 60 days, 30 or 35 features)  ·  Z-score normalised with 252-day rolling window.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3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23444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64592"/>
            <a:ext cx="8412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</a:rPr>
              <a:t>Layer 3 — LSTM + Differential Sharpe Ratio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822960"/>
            <a:ext cx="8412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AED6F1"/>
                </a:solidFill>
              </a:rPr>
              <a:t>The core ML engine — trained to maximise risk-adjusted returns directly</a:t>
            </a:r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234440"/>
            <a:ext cx="8595360" cy="338328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365760" y="4663440"/>
            <a:ext cx="8412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F4E79"/>
                </a:solidFill>
              </a:rPr>
              <a:t>What makes this different from regular deep learning?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5074920"/>
            <a:ext cx="8412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2C3E50"/>
                </a:solidFill>
              </a:rPr>
              <a:t>Normal neural nets minimise prediction error (MSE).  This model minimises −DSR: the negative Differential Sharpe Ratio.  That means it directly learns to maximise risk-adjusted profit — no intermediate step.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8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234440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64592"/>
            <a:ext cx="8412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</a:rPr>
              <a:t>Layer 4 — R Risk Engine: 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822960"/>
            <a:ext cx="8412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AED6F1"/>
                </a:solidFill>
              </a:rPr>
              <a:t>R doesn't just make charts — it does the heavy quantitative lifting</a:t>
            </a:r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1234440"/>
            <a:ext cx="8778240" cy="530352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8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234440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64592"/>
            <a:ext cx="8412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</a:rPr>
              <a:t>R ↔ Python Bridge: reticulate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822960"/>
            <a:ext cx="8412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AED6F1"/>
                </a:solidFill>
              </a:rPr>
              <a:t>R calls the LSTM model directly — no files exchanged, no REST API needed</a:t>
            </a:r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1234440"/>
            <a:ext cx="8778240" cy="530352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8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234440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64592"/>
            <a:ext cx="8412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</a:rPr>
              <a:t>R's Role: Walk-Forward Backtesting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822960"/>
            <a:ext cx="8412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AED6F1"/>
                </a:solidFill>
              </a:rPr>
              <a:t>backtest.R — 600 lines, the backbone of the whole experiment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417320"/>
            <a:ext cx="1280160" cy="822960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FFFFFF"/>
                </a:solidFill>
              </a:rPr>
              <a:t>Step 1
Load Data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2331720"/>
            <a:ext cx="1280160" cy="1005840"/>
          </a:xfrm>
          <a:prstGeom prst="rect">
            <a:avLst/>
          </a:prstGeom>
          <a:solidFill>
            <a:srgbClr val="F2F3F4"/>
          </a:solidFill>
          <a:ln w="12700">
            <a:solidFill>
              <a:srgbClr val="7F8C8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0">
                <a:solidFill>
                  <a:srgbClr val="2C3E50"/>
                </a:solidFill>
              </a:rPr>
              <a:t>Read prices.parquet
via arrow package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572768" y="1737360"/>
            <a:ext cx="182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7F8C8D"/>
                </a:solidFill>
              </a:rPr>
              <a:t>→</a:t>
            </a:r>
          </a:p>
        </p:txBody>
      </p:sp>
      <p:sp>
        <p:nvSpPr>
          <p:cNvPr id="8" name="Rectangle 7"/>
          <p:cNvSpPr/>
          <p:nvPr/>
        </p:nvSpPr>
        <p:spPr>
          <a:xfrm>
            <a:off x="1737360" y="1417320"/>
            <a:ext cx="1280160" cy="82296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FFFFFF"/>
                </a:solidFill>
              </a:rPr>
              <a:t>Step 2
Get Dates</a:t>
            </a:r>
          </a:p>
        </p:txBody>
      </p:sp>
      <p:sp>
        <p:nvSpPr>
          <p:cNvPr id="9" name="Rectangle 8"/>
          <p:cNvSpPr/>
          <p:nvPr/>
        </p:nvSpPr>
        <p:spPr>
          <a:xfrm>
            <a:off x="1737360" y="2331720"/>
            <a:ext cx="1280160" cy="1005840"/>
          </a:xfrm>
          <a:prstGeom prst="rect">
            <a:avLst/>
          </a:prstGeom>
          <a:solidFill>
            <a:srgbClr val="F2F3F4"/>
          </a:solidFill>
          <a:ln w="12700">
            <a:solidFill>
              <a:srgbClr val="7F8C8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0">
                <a:solidFill>
                  <a:srgbClr val="2C3E50"/>
                </a:solidFill>
              </a:rPr>
              <a:t>Weekly rebalance
dates (xts endpoints)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035808" y="1737360"/>
            <a:ext cx="182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7F8C8D"/>
                </a:solidFill>
              </a:rPr>
              <a:t>→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00400" y="1417320"/>
            <a:ext cx="1280160" cy="822960"/>
          </a:xfrm>
          <a:prstGeom prst="rect">
            <a:avLst/>
          </a:prstGeom>
          <a:solidFill>
            <a:srgbClr val="2980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FFFFFF"/>
                </a:solidFill>
              </a:rPr>
              <a:t>Step 3
Predict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200400" y="2331720"/>
            <a:ext cx="1280160" cy="1005840"/>
          </a:xfrm>
          <a:prstGeom prst="rect">
            <a:avLst/>
          </a:prstGeom>
          <a:solidFill>
            <a:srgbClr val="F2F3F4"/>
          </a:solidFill>
          <a:ln w="12700">
            <a:solidFill>
              <a:srgbClr val="7F8C8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0">
                <a:solidFill>
                  <a:srgbClr val="2C3E50"/>
                </a:solidFill>
              </a:rPr>
              <a:t>Call Python:
predict_at_date()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98848" y="1737360"/>
            <a:ext cx="182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7F8C8D"/>
                </a:solidFill>
              </a:rPr>
              <a:t>→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663440" y="1417320"/>
            <a:ext cx="1280160" cy="822960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FFFFFF"/>
                </a:solidFill>
              </a:rPr>
              <a:t>Step 4
Constrain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663440" y="2331720"/>
            <a:ext cx="1280160" cy="1005840"/>
          </a:xfrm>
          <a:prstGeom prst="rect">
            <a:avLst/>
          </a:prstGeom>
          <a:solidFill>
            <a:srgbClr val="F2F3F4"/>
          </a:solidFill>
          <a:ln w="12700">
            <a:solidFill>
              <a:srgbClr val="7F8C8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0">
                <a:solidFill>
                  <a:srgbClr val="2C3E50"/>
                </a:solidFill>
              </a:rPr>
              <a:t>Apply min/max
&amp; CVaR bounds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61888" y="1737360"/>
            <a:ext cx="182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7F8C8D"/>
                </a:solidFill>
              </a:rPr>
              <a:t>→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126480" y="1417320"/>
            <a:ext cx="1280160" cy="822960"/>
          </a:xfrm>
          <a:prstGeom prst="rect">
            <a:avLst/>
          </a:prstGeom>
          <a:solidFill>
            <a:srgbClr val="1E8B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FFFFFF"/>
                </a:solidFill>
              </a:rPr>
              <a:t>Step 5
Return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126480" y="2331720"/>
            <a:ext cx="1280160" cy="1005840"/>
          </a:xfrm>
          <a:prstGeom prst="rect">
            <a:avLst/>
          </a:prstGeom>
          <a:solidFill>
            <a:srgbClr val="F2F3F4"/>
          </a:solidFill>
          <a:ln w="12700">
            <a:solidFill>
              <a:srgbClr val="7F8C8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0">
                <a:solidFill>
                  <a:srgbClr val="2C3E50"/>
                </a:solidFill>
              </a:rPr>
              <a:t>w_t · r_{t+1}
minus 10 bps cost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424928" y="1737360"/>
            <a:ext cx="182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7F8C8D"/>
                </a:solidFill>
              </a:rPr>
              <a:t>→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589520" y="1417320"/>
            <a:ext cx="1280160" cy="822960"/>
          </a:xfrm>
          <a:prstGeom prst="rect">
            <a:avLst/>
          </a:prstGeom>
          <a:solidFill>
            <a:srgbClr val="7F8C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FFFFFF"/>
                </a:solidFill>
              </a:rPr>
              <a:t>Step 6
Save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589520" y="2331720"/>
            <a:ext cx="1280160" cy="1005840"/>
          </a:xfrm>
          <a:prstGeom prst="rect">
            <a:avLst/>
          </a:prstGeom>
          <a:solidFill>
            <a:srgbClr val="F2F3F4"/>
          </a:solidFill>
          <a:ln w="12700">
            <a:solidFill>
              <a:srgbClr val="7F8C8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0">
                <a:solidFill>
                  <a:srgbClr val="2C3E50"/>
                </a:solidFill>
              </a:rPr>
              <a:t>weights_history.csv
metrics.csv  .rds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74320" y="3657600"/>
            <a:ext cx="85953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2C3E50"/>
                </a:solidFill>
              </a:rPr>
              <a:t>xts time series in R keeps everything perfectly date-aligned. PerformanceAnalytics::Return.portfolio() handles weight × return multiplication correctly across splits.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74320" y="4526280"/>
            <a:ext cx="85953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2C3E50"/>
                </a:solidFill>
              </a:rPr>
              <a:t>•  ~150 rebalance points over 2023–2024 test window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74320" y="4873752"/>
            <a:ext cx="85953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2C3E50"/>
                </a:solidFill>
              </a:rPr>
              <a:t>•  Each point: Python inference (~0.3s) + R constraint check + return calculation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74320" y="5221224"/>
            <a:ext cx="85953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2C3E50"/>
                </a:solidFill>
              </a:rPr>
              <a:t>•  Total backtest runtime: ~2 minutes on CPU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8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234440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64592"/>
            <a:ext cx="8412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</a:rPr>
              <a:t>R's Role: PortfolioAnalytics &amp; CVaR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822960"/>
            <a:ext cx="8412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AED6F1"/>
                </a:solidFill>
              </a:rPr>
              <a:t>Turning raw LSTM weights into regulated, risk-controlled positions</a:t>
            </a:r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280160"/>
            <a:ext cx="8595360" cy="41148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74320" y="5486400"/>
            <a:ext cx="85953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7F8C8D"/>
                </a:solidFill>
              </a:rPr>
              <a:t>Why PortfolioAnalytics?  It provides an ROI solver specifically designed for portfolio constraints — min/max weights, CVaR limits, long-only, sum-to-one — all in one call. scipy.optimize can do it, but PortfolioAnalytics handles the edge cases (infeasible regions, etc.) out of the box.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8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234440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64592"/>
            <a:ext cx="8412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</a:rPr>
              <a:t>R's Role: PerformanceAnalytics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822960"/>
            <a:ext cx="8412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AED6F1"/>
                </a:solidFill>
              </a:rPr>
              <a:t>8 industry-standard risk metrics computed in &lt;10 lines of R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325880"/>
            <a:ext cx="2377440" cy="347472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FFFFFF"/>
                </a:solidFill>
              </a:rPr>
              <a:t>Metric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0" y="1325880"/>
            <a:ext cx="3017520" cy="347472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FFFFFF"/>
                </a:solidFill>
              </a:rPr>
              <a:t>R Function (PerformanceAnalytics)</a:t>
            </a:r>
          </a:p>
        </p:txBody>
      </p:sp>
      <p:sp>
        <p:nvSpPr>
          <p:cNvPr id="7" name="Rectangle 6"/>
          <p:cNvSpPr/>
          <p:nvPr/>
        </p:nvSpPr>
        <p:spPr>
          <a:xfrm>
            <a:off x="5852160" y="1325880"/>
            <a:ext cx="3017520" cy="347472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FFFFFF"/>
                </a:solidFill>
              </a:rPr>
              <a:t>Plain English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" y="1700784"/>
            <a:ext cx="2377440" cy="402336"/>
          </a:xfrm>
          <a:prstGeom prst="rect">
            <a:avLst/>
          </a:prstGeom>
          <a:solidFill>
            <a:srgbClr val="F2F3F4"/>
          </a:solidFill>
          <a:ln w="12700">
            <a:solidFill>
              <a:srgbClr val="7F8C8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0">
                <a:solidFill>
                  <a:srgbClr val="2C3E50"/>
                </a:solidFill>
              </a:rPr>
              <a:t>Annualised Return</a:t>
            </a:r>
          </a:p>
        </p:txBody>
      </p:sp>
      <p:sp>
        <p:nvSpPr>
          <p:cNvPr id="9" name="Rectangle 8"/>
          <p:cNvSpPr/>
          <p:nvPr/>
        </p:nvSpPr>
        <p:spPr>
          <a:xfrm>
            <a:off x="2743200" y="1700784"/>
            <a:ext cx="3017520" cy="402336"/>
          </a:xfrm>
          <a:prstGeom prst="rect">
            <a:avLst/>
          </a:prstGeom>
          <a:solidFill>
            <a:srgbClr val="F2F3F4"/>
          </a:solidFill>
          <a:ln w="12700">
            <a:solidFill>
              <a:srgbClr val="7F8C8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0">
                <a:solidFill>
                  <a:srgbClr val="2C3E50"/>
                </a:solidFill>
              </a:rPr>
              <a:t>Return.annualized(r, scale=252)</a:t>
            </a:r>
          </a:p>
        </p:txBody>
      </p:sp>
      <p:sp>
        <p:nvSpPr>
          <p:cNvPr id="10" name="Rectangle 9"/>
          <p:cNvSpPr/>
          <p:nvPr/>
        </p:nvSpPr>
        <p:spPr>
          <a:xfrm>
            <a:off x="5852160" y="1700784"/>
            <a:ext cx="3017520" cy="402336"/>
          </a:xfrm>
          <a:prstGeom prst="rect">
            <a:avLst/>
          </a:prstGeom>
          <a:solidFill>
            <a:srgbClr val="F2F3F4"/>
          </a:solidFill>
          <a:ln w="12700">
            <a:solidFill>
              <a:srgbClr val="7F8C8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0">
                <a:solidFill>
                  <a:srgbClr val="2C3E50"/>
                </a:solidFill>
              </a:rPr>
              <a:t>How much did we make?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4320" y="2139696"/>
            <a:ext cx="2377440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7F8C8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0">
                <a:solidFill>
                  <a:srgbClr val="2C3E50"/>
                </a:solidFill>
              </a:rPr>
              <a:t>Sharpe Ratio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743200" y="2139696"/>
            <a:ext cx="3017520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7F8C8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0">
                <a:solidFill>
                  <a:srgbClr val="2C3E50"/>
                </a:solidFill>
              </a:rPr>
              <a:t>SharpeRatio.annualized(r, Rf=0)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852160" y="2139696"/>
            <a:ext cx="3017520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7F8C8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0">
                <a:solidFill>
                  <a:srgbClr val="2C3E50"/>
                </a:solidFill>
              </a:rPr>
              <a:t>Return per unit of risk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74320" y="2578608"/>
            <a:ext cx="2377440" cy="402336"/>
          </a:xfrm>
          <a:prstGeom prst="rect">
            <a:avLst/>
          </a:prstGeom>
          <a:solidFill>
            <a:srgbClr val="F2F3F4"/>
          </a:solidFill>
          <a:ln w="12700">
            <a:solidFill>
              <a:srgbClr val="7F8C8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0">
                <a:solidFill>
                  <a:srgbClr val="2C3E50"/>
                </a:solidFill>
              </a:rPr>
              <a:t>Sortino Ratio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743200" y="2578608"/>
            <a:ext cx="3017520" cy="402336"/>
          </a:xfrm>
          <a:prstGeom prst="rect">
            <a:avLst/>
          </a:prstGeom>
          <a:solidFill>
            <a:srgbClr val="F2F3F4"/>
          </a:solidFill>
          <a:ln w="12700">
            <a:solidFill>
              <a:srgbClr val="7F8C8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0">
                <a:solidFill>
                  <a:srgbClr val="2C3E50"/>
                </a:solidFill>
              </a:rPr>
              <a:t>SortinoRatio(r)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852160" y="2578608"/>
            <a:ext cx="3017520" cy="402336"/>
          </a:xfrm>
          <a:prstGeom prst="rect">
            <a:avLst/>
          </a:prstGeom>
          <a:solidFill>
            <a:srgbClr val="F2F3F4"/>
          </a:solidFill>
          <a:ln w="12700">
            <a:solidFill>
              <a:srgbClr val="7F8C8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0">
                <a:solidFill>
                  <a:srgbClr val="2C3E50"/>
                </a:solidFill>
              </a:rPr>
              <a:t>Return per unit of downside risk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74320" y="3017520"/>
            <a:ext cx="2377440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7F8C8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0">
                <a:solidFill>
                  <a:srgbClr val="2C3E50"/>
                </a:solidFill>
              </a:rPr>
              <a:t>Max Drawdown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743200" y="3017520"/>
            <a:ext cx="3017520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7F8C8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0">
                <a:solidFill>
                  <a:srgbClr val="2C3E50"/>
                </a:solidFill>
              </a:rPr>
              <a:t>maxDrawdown(r)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852160" y="3017520"/>
            <a:ext cx="3017520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7F8C8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0">
                <a:solidFill>
                  <a:srgbClr val="2C3E50"/>
                </a:solidFill>
              </a:rPr>
              <a:t>Worst peak-to-trough loss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74320" y="3456432"/>
            <a:ext cx="2377440" cy="402336"/>
          </a:xfrm>
          <a:prstGeom prst="rect">
            <a:avLst/>
          </a:prstGeom>
          <a:solidFill>
            <a:srgbClr val="F2F3F4"/>
          </a:solidFill>
          <a:ln w="12700">
            <a:solidFill>
              <a:srgbClr val="7F8C8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0">
                <a:solidFill>
                  <a:srgbClr val="2C3E50"/>
                </a:solidFill>
              </a:rPr>
              <a:t>Calmar Ratio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743200" y="3456432"/>
            <a:ext cx="3017520" cy="402336"/>
          </a:xfrm>
          <a:prstGeom prst="rect">
            <a:avLst/>
          </a:prstGeom>
          <a:solidFill>
            <a:srgbClr val="F2F3F4"/>
          </a:solidFill>
          <a:ln w="12700">
            <a:solidFill>
              <a:srgbClr val="7F8C8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0">
                <a:solidFill>
                  <a:srgbClr val="2C3E50"/>
                </a:solidFill>
              </a:rPr>
              <a:t>Return / maxDrawdown(r)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852160" y="3456432"/>
            <a:ext cx="3017520" cy="402336"/>
          </a:xfrm>
          <a:prstGeom prst="rect">
            <a:avLst/>
          </a:prstGeom>
          <a:solidFill>
            <a:srgbClr val="F2F3F4"/>
          </a:solidFill>
          <a:ln w="12700">
            <a:solidFill>
              <a:srgbClr val="7F8C8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0">
                <a:solidFill>
                  <a:srgbClr val="2C3E50"/>
                </a:solidFill>
              </a:rPr>
              <a:t>Return vs max pain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74320" y="3895344"/>
            <a:ext cx="2377440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7F8C8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0">
                <a:solidFill>
                  <a:srgbClr val="2C3E50"/>
                </a:solidFill>
              </a:rPr>
              <a:t>VaR (95%)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743200" y="3895344"/>
            <a:ext cx="3017520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7F8C8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0">
                <a:solidFill>
                  <a:srgbClr val="2C3E50"/>
                </a:solidFill>
              </a:rPr>
              <a:t>VaR(r, p=0.95, method='historical')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852160" y="3895344"/>
            <a:ext cx="3017520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7F8C8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0">
                <a:solidFill>
                  <a:srgbClr val="2C3E50"/>
                </a:solidFill>
              </a:rPr>
              <a:t>Daily loss at 95% confidence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74320" y="4334256"/>
            <a:ext cx="2377440" cy="402336"/>
          </a:xfrm>
          <a:prstGeom prst="rect">
            <a:avLst/>
          </a:prstGeom>
          <a:solidFill>
            <a:srgbClr val="F2F3F4"/>
          </a:solidFill>
          <a:ln w="12700">
            <a:solidFill>
              <a:srgbClr val="7F8C8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0">
                <a:solidFill>
                  <a:srgbClr val="2C3E50"/>
                </a:solidFill>
              </a:rPr>
              <a:t>CVaR / ES (95%)</a:t>
            </a:r>
          </a:p>
        </p:txBody>
      </p:sp>
      <p:sp>
        <p:nvSpPr>
          <p:cNvPr id="27" name="Rectangle 26"/>
          <p:cNvSpPr/>
          <p:nvPr/>
        </p:nvSpPr>
        <p:spPr>
          <a:xfrm>
            <a:off x="2743200" y="4334256"/>
            <a:ext cx="3017520" cy="402336"/>
          </a:xfrm>
          <a:prstGeom prst="rect">
            <a:avLst/>
          </a:prstGeom>
          <a:solidFill>
            <a:srgbClr val="F2F3F4"/>
          </a:solidFill>
          <a:ln w="12700">
            <a:solidFill>
              <a:srgbClr val="7F8C8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0">
                <a:solidFill>
                  <a:srgbClr val="2C3E50"/>
                </a:solidFill>
              </a:rPr>
              <a:t>ES(r, p=0.95, method='historical')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852160" y="4334256"/>
            <a:ext cx="3017520" cy="402336"/>
          </a:xfrm>
          <a:prstGeom prst="rect">
            <a:avLst/>
          </a:prstGeom>
          <a:solidFill>
            <a:srgbClr val="F2F3F4"/>
          </a:solidFill>
          <a:ln w="12700">
            <a:solidFill>
              <a:srgbClr val="7F8C8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0">
                <a:solidFill>
                  <a:srgbClr val="2C3E50"/>
                </a:solidFill>
              </a:rPr>
              <a:t>Expected loss beyond VaR</a:t>
            </a:r>
          </a:p>
        </p:txBody>
      </p:sp>
      <p:sp>
        <p:nvSpPr>
          <p:cNvPr id="29" name="Rectangle 28"/>
          <p:cNvSpPr/>
          <p:nvPr/>
        </p:nvSpPr>
        <p:spPr>
          <a:xfrm>
            <a:off x="274320" y="4773168"/>
            <a:ext cx="2377440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7F8C8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0">
                <a:solidFill>
                  <a:srgbClr val="2C3E50"/>
                </a:solidFill>
              </a:rPr>
              <a:t>Annualised Volatility</a:t>
            </a:r>
          </a:p>
        </p:txBody>
      </p:sp>
      <p:sp>
        <p:nvSpPr>
          <p:cNvPr id="30" name="Rectangle 29"/>
          <p:cNvSpPr/>
          <p:nvPr/>
        </p:nvSpPr>
        <p:spPr>
          <a:xfrm>
            <a:off x="2743200" y="4773168"/>
            <a:ext cx="3017520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7F8C8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0">
                <a:solidFill>
                  <a:srgbClr val="2C3E50"/>
                </a:solidFill>
              </a:rPr>
              <a:t>StdDev.annualized(r, scale=252)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852160" y="4773168"/>
            <a:ext cx="3017520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7F8C8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0">
                <a:solidFill>
                  <a:srgbClr val="2C3E50"/>
                </a:solidFill>
              </a:rPr>
              <a:t>How bumpy was the ride?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3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234440"/>
          </a:xfrm>
          <a:prstGeom prst="rect">
            <a:avLst/>
          </a:prstGeom>
          <a:solidFill>
            <a:srgbClr val="1E8B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64592"/>
            <a:ext cx="8412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</a:rPr>
              <a:t>Layer 5 — Dashboard &amp; Reporting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822960"/>
            <a:ext cx="8412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AED6F1"/>
                </a:solidFill>
              </a:rPr>
              <a:t>Two dashboards: R Shiny (original) + Streamlit (Python live version)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371600"/>
            <a:ext cx="4023360" cy="502920"/>
          </a:xfrm>
          <a:prstGeom prst="rect">
            <a:avLst/>
          </a:prstGeom>
          <a:solidFill>
            <a:srgbClr val="1E8B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</a:rPr>
              <a:t>Streamlit Dashboard  (Python)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1920240"/>
            <a:ext cx="3657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2C3E50"/>
                </a:solidFill>
              </a:rPr>
              <a:t>📊 Portfolio Overview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2322576"/>
            <a:ext cx="3657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2C3E50"/>
                </a:solidFill>
              </a:rPr>
              <a:t>⚖️ Weight Allocation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2724912"/>
            <a:ext cx="3657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2C3E50"/>
                </a:solidFill>
              </a:rPr>
              <a:t>📈 Analytics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3127248"/>
            <a:ext cx="3657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2C3E50"/>
                </a:solidFill>
              </a:rPr>
              <a:t>🛡️ Risk Monitor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3529584"/>
            <a:ext cx="3657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2C3E50"/>
                </a:solidFill>
              </a:rPr>
              <a:t>🔴 Live Data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3931920"/>
            <a:ext cx="3657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2C3E50"/>
                </a:solidFill>
              </a:rPr>
              <a:t>📰 Sentiment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4334256"/>
            <a:ext cx="3657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2C3E50"/>
                </a:solidFill>
              </a:rPr>
              <a:t>📡 Real-Time Signals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663440" y="1371600"/>
            <a:ext cx="4206240" cy="502920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</a:rPr>
              <a:t>R Shiny + R Markdown  (original)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54880" y="1920240"/>
            <a:ext cx="40233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2C3E50"/>
                </a:solidFill>
              </a:rPr>
              <a:t>•  Portfolio overview — equity curve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754880" y="2322576"/>
            <a:ext cx="40233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2C3E50"/>
                </a:solidFill>
              </a:rPr>
              <a:t>•  Weight allocation — stacked area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754880" y="2724912"/>
            <a:ext cx="40233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2C3E50"/>
                </a:solidFill>
              </a:rPr>
              <a:t>•  Sentiment heatmap (planned)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754880" y="3127248"/>
            <a:ext cx="40233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2C3E50"/>
                </a:solidFill>
              </a:rPr>
              <a:t>•  Risk monitor — rolling VaR / CVaR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754880" y="3529584"/>
            <a:ext cx="40233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2C3E50"/>
                </a:solidFill>
              </a:rPr>
              <a:t>•  R Markdown → HTML / PDF report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754880" y="3931920"/>
            <a:ext cx="40233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2C3E50"/>
                </a:solidFill>
              </a:rPr>
              <a:t>•  Reads pre-computed backtest_results.rds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74320" y="5303520"/>
            <a:ext cx="85953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7F8C8D"/>
                </a:solidFill>
              </a:rPr>
              <a:t>Both dashboards read the same pre-computed result files (CSVs + RDS).  Live Streamlit tab adds real-time yfinance refresh + LSTM re-inference.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3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23444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64592"/>
            <a:ext cx="8412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</a:rPr>
              <a:t>Why R + Python Together?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822960"/>
            <a:ext cx="8412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AED6F1"/>
                </a:solidFill>
              </a:rPr>
              <a:t>Each language does what it's genuinely best at</a:t>
            </a:r>
          </a:p>
        </p:txBody>
      </p:sp>
      <p:sp>
        <p:nvSpPr>
          <p:cNvPr id="5" name="Rectangle 4"/>
          <p:cNvSpPr/>
          <p:nvPr/>
        </p:nvSpPr>
        <p:spPr>
          <a:xfrm>
            <a:off x="182880" y="1325880"/>
            <a:ext cx="2286000" cy="384048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FFFFFF"/>
                </a:solidFill>
              </a:rPr>
              <a:t>Task</a:t>
            </a:r>
          </a:p>
        </p:txBody>
      </p:sp>
      <p:sp>
        <p:nvSpPr>
          <p:cNvPr id="6" name="Rectangle 5"/>
          <p:cNvSpPr/>
          <p:nvPr/>
        </p:nvSpPr>
        <p:spPr>
          <a:xfrm>
            <a:off x="2560320" y="1325880"/>
            <a:ext cx="2560320" cy="384048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FFFFFF"/>
                </a:solidFill>
              </a:rPr>
              <a:t>Python</a:t>
            </a:r>
          </a:p>
        </p:txBody>
      </p:sp>
      <p:sp>
        <p:nvSpPr>
          <p:cNvPr id="7" name="Rectangle 6"/>
          <p:cNvSpPr/>
          <p:nvPr/>
        </p:nvSpPr>
        <p:spPr>
          <a:xfrm>
            <a:off x="5303520" y="1325880"/>
            <a:ext cx="2286000" cy="384048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FFFFFF"/>
                </a:solidFill>
              </a:rPr>
              <a:t>R</a:t>
            </a:r>
          </a:p>
        </p:txBody>
      </p:sp>
      <p:sp>
        <p:nvSpPr>
          <p:cNvPr id="8" name="Rectangle 7"/>
          <p:cNvSpPr/>
          <p:nvPr/>
        </p:nvSpPr>
        <p:spPr>
          <a:xfrm>
            <a:off x="7772400" y="1325880"/>
            <a:ext cx="1188720" cy="384048"/>
          </a:xfrm>
          <a:prstGeom prst="rect">
            <a:avLst/>
          </a:prstGeom>
          <a:solidFill>
            <a:srgbClr val="1E8B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FFFFFF"/>
                </a:solidFill>
              </a:rPr>
              <a:t>Winner</a:t>
            </a:r>
          </a:p>
        </p:txBody>
      </p:sp>
      <p:sp>
        <p:nvSpPr>
          <p:cNvPr id="9" name="Rectangle 8"/>
          <p:cNvSpPr/>
          <p:nvPr/>
        </p:nvSpPr>
        <p:spPr>
          <a:xfrm>
            <a:off x="182880" y="1737360"/>
            <a:ext cx="2286000" cy="438912"/>
          </a:xfrm>
          <a:prstGeom prst="rect">
            <a:avLst/>
          </a:prstGeom>
          <a:solidFill>
            <a:srgbClr val="F2F3F4"/>
          </a:solidFill>
          <a:ln w="12700">
            <a:solidFill>
              <a:srgbClr val="7F8C8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0">
                <a:solidFill>
                  <a:srgbClr val="2C3E50"/>
                </a:solidFill>
              </a:rPr>
              <a:t>Deep Learning / LSTM</a:t>
            </a:r>
          </a:p>
        </p:txBody>
      </p:sp>
      <p:sp>
        <p:nvSpPr>
          <p:cNvPr id="10" name="Rectangle 9"/>
          <p:cNvSpPr/>
          <p:nvPr/>
        </p:nvSpPr>
        <p:spPr>
          <a:xfrm>
            <a:off x="2560320" y="1737360"/>
            <a:ext cx="2560320" cy="438912"/>
          </a:xfrm>
          <a:prstGeom prst="rect">
            <a:avLst/>
          </a:prstGeom>
          <a:solidFill>
            <a:srgbClr val="F2F3F4"/>
          </a:solidFill>
          <a:ln w="12700">
            <a:solidFill>
              <a:srgbClr val="7F8C8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0">
                <a:solidFill>
                  <a:srgbClr val="2E86C1"/>
                </a:solidFill>
              </a:rPr>
              <a:t>✅ PyTorch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303520" y="1737360"/>
            <a:ext cx="2286000" cy="438912"/>
          </a:xfrm>
          <a:prstGeom prst="rect">
            <a:avLst/>
          </a:prstGeom>
          <a:solidFill>
            <a:srgbClr val="F2F3F4"/>
          </a:solidFill>
          <a:ln w="12700">
            <a:solidFill>
              <a:srgbClr val="7F8C8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0">
                <a:solidFill>
                  <a:srgbClr val="7F8C8D"/>
                </a:solidFill>
              </a:rPr>
              <a:t>❌ keras (weaker)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772400" y="1737360"/>
            <a:ext cx="1188720" cy="438912"/>
          </a:xfrm>
          <a:prstGeom prst="rect">
            <a:avLst/>
          </a:prstGeom>
          <a:solidFill>
            <a:srgbClr val="1E8B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0">
                <a:solidFill>
                  <a:srgbClr val="FFFFFF"/>
                </a:solidFill>
              </a:rPr>
              <a:t>Python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82880" y="2212848"/>
            <a:ext cx="228600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7F8C8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0">
                <a:solidFill>
                  <a:srgbClr val="2C3E50"/>
                </a:solidFill>
              </a:rPr>
              <a:t>Feature Engineering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560320" y="2212848"/>
            <a:ext cx="256032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7F8C8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0">
                <a:solidFill>
                  <a:srgbClr val="2E86C1"/>
                </a:solidFill>
              </a:rPr>
              <a:t>✅ pandas, ta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303520" y="2212848"/>
            <a:ext cx="228600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7F8C8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0">
                <a:solidFill>
                  <a:srgbClr val="7F8C8D"/>
                </a:solidFill>
              </a:rPr>
              <a:t>⚠️  xts (workable)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772400" y="2212848"/>
            <a:ext cx="1188720" cy="438912"/>
          </a:xfrm>
          <a:prstGeom prst="rect">
            <a:avLst/>
          </a:prstGeom>
          <a:solidFill>
            <a:srgbClr val="1E8B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0">
                <a:solidFill>
                  <a:srgbClr val="FFFFFF"/>
                </a:solidFill>
              </a:rPr>
              <a:t>Python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82880" y="2688336"/>
            <a:ext cx="2286000" cy="438912"/>
          </a:xfrm>
          <a:prstGeom prst="rect">
            <a:avLst/>
          </a:prstGeom>
          <a:solidFill>
            <a:srgbClr val="F2F3F4"/>
          </a:solidFill>
          <a:ln w="12700">
            <a:solidFill>
              <a:srgbClr val="7F8C8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0">
                <a:solidFill>
                  <a:srgbClr val="2C3E50"/>
                </a:solidFill>
              </a:rPr>
              <a:t>Portfolio Constraint Solving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560320" y="2688336"/>
            <a:ext cx="2560320" cy="438912"/>
          </a:xfrm>
          <a:prstGeom prst="rect">
            <a:avLst/>
          </a:prstGeom>
          <a:solidFill>
            <a:srgbClr val="F2F3F4"/>
          </a:solidFill>
          <a:ln w="12700">
            <a:solidFill>
              <a:srgbClr val="7F8C8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0">
                <a:solidFill>
                  <a:srgbClr val="7F8C8D"/>
                </a:solidFill>
              </a:rPr>
              <a:t>⚠️  cvxpy (manual)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303520" y="2688336"/>
            <a:ext cx="2286000" cy="438912"/>
          </a:xfrm>
          <a:prstGeom prst="rect">
            <a:avLst/>
          </a:prstGeom>
          <a:solidFill>
            <a:srgbClr val="F2F3F4"/>
          </a:solidFill>
          <a:ln w="12700">
            <a:solidFill>
              <a:srgbClr val="7F8C8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0">
                <a:solidFill>
                  <a:srgbClr val="E67E22"/>
                </a:solidFill>
              </a:rPr>
              <a:t>✅ PortfolioAnalytics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772400" y="2688336"/>
            <a:ext cx="1188720" cy="438912"/>
          </a:xfrm>
          <a:prstGeom prst="rect">
            <a:avLst/>
          </a:prstGeom>
          <a:solidFill>
            <a:srgbClr val="1E8B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0">
                <a:solidFill>
                  <a:srgbClr val="FFFFFF"/>
                </a:solidFill>
              </a:rPr>
              <a:t>R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82880" y="3163824"/>
            <a:ext cx="228600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7F8C8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0">
                <a:solidFill>
                  <a:srgbClr val="2C3E50"/>
                </a:solidFill>
              </a:rPr>
              <a:t>Risk Metrics (Sharpe/CVaR)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560320" y="3163824"/>
            <a:ext cx="256032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7F8C8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0">
                <a:solidFill>
                  <a:srgbClr val="7F8C8D"/>
                </a:solidFill>
              </a:rPr>
              <a:t>⚠️  manual NumPy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303520" y="3163824"/>
            <a:ext cx="228600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7F8C8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0">
                <a:solidFill>
                  <a:srgbClr val="E67E22"/>
                </a:solidFill>
              </a:rPr>
              <a:t>✅ PerformanceAnalytics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772400" y="3163824"/>
            <a:ext cx="1188720" cy="438912"/>
          </a:xfrm>
          <a:prstGeom prst="rect">
            <a:avLst/>
          </a:prstGeom>
          <a:solidFill>
            <a:srgbClr val="1E8B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0">
                <a:solidFill>
                  <a:srgbClr val="FFFFFF"/>
                </a:solidFill>
              </a:rPr>
              <a:t>R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82880" y="3639312"/>
            <a:ext cx="2286000" cy="438912"/>
          </a:xfrm>
          <a:prstGeom prst="rect">
            <a:avLst/>
          </a:prstGeom>
          <a:solidFill>
            <a:srgbClr val="F2F3F4"/>
          </a:solidFill>
          <a:ln w="12700">
            <a:solidFill>
              <a:srgbClr val="7F8C8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0">
                <a:solidFill>
                  <a:srgbClr val="2C3E50"/>
                </a:solidFill>
              </a:rPr>
              <a:t>Time-Series Backtesting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560320" y="3639312"/>
            <a:ext cx="2560320" cy="438912"/>
          </a:xfrm>
          <a:prstGeom prst="rect">
            <a:avLst/>
          </a:prstGeom>
          <a:solidFill>
            <a:srgbClr val="F2F3F4"/>
          </a:solidFill>
          <a:ln w="12700">
            <a:solidFill>
              <a:srgbClr val="7F8C8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0">
                <a:solidFill>
                  <a:srgbClr val="7F8C8D"/>
                </a:solidFill>
              </a:rPr>
              <a:t>⚠️  manual loop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303520" y="3639312"/>
            <a:ext cx="2286000" cy="438912"/>
          </a:xfrm>
          <a:prstGeom prst="rect">
            <a:avLst/>
          </a:prstGeom>
          <a:solidFill>
            <a:srgbClr val="F2F3F4"/>
          </a:solidFill>
          <a:ln w="12700">
            <a:solidFill>
              <a:srgbClr val="7F8C8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0">
                <a:solidFill>
                  <a:srgbClr val="E67E22"/>
                </a:solidFill>
              </a:rPr>
              <a:t>✅ xts + endpoints()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772400" y="3639312"/>
            <a:ext cx="1188720" cy="438912"/>
          </a:xfrm>
          <a:prstGeom prst="rect">
            <a:avLst/>
          </a:prstGeom>
          <a:solidFill>
            <a:srgbClr val="1E8B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0">
                <a:solidFill>
                  <a:srgbClr val="FFFFFF"/>
                </a:solidFill>
              </a:rPr>
              <a:t>R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82880" y="4114800"/>
            <a:ext cx="228600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7F8C8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0">
                <a:solidFill>
                  <a:srgbClr val="2C3E50"/>
                </a:solidFill>
              </a:rPr>
              <a:t>Report Generation</a:t>
            </a:r>
          </a:p>
        </p:txBody>
      </p:sp>
      <p:sp>
        <p:nvSpPr>
          <p:cNvPr id="30" name="Rectangle 29"/>
          <p:cNvSpPr/>
          <p:nvPr/>
        </p:nvSpPr>
        <p:spPr>
          <a:xfrm>
            <a:off x="2560320" y="4114800"/>
            <a:ext cx="256032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7F8C8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0">
                <a:solidFill>
                  <a:srgbClr val="7F8C8D"/>
                </a:solidFill>
              </a:rPr>
              <a:t>⚠️  Jupyter/nbconv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303520" y="4114800"/>
            <a:ext cx="228600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7F8C8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0">
                <a:solidFill>
                  <a:srgbClr val="E67E22"/>
                </a:solidFill>
              </a:rPr>
              <a:t>✅ R Markdown</a:t>
            </a:r>
          </a:p>
        </p:txBody>
      </p:sp>
      <p:sp>
        <p:nvSpPr>
          <p:cNvPr id="32" name="Rectangle 31"/>
          <p:cNvSpPr/>
          <p:nvPr/>
        </p:nvSpPr>
        <p:spPr>
          <a:xfrm>
            <a:off x="7772400" y="4114800"/>
            <a:ext cx="1188720" cy="438912"/>
          </a:xfrm>
          <a:prstGeom prst="rect">
            <a:avLst/>
          </a:prstGeom>
          <a:solidFill>
            <a:srgbClr val="1E8B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0">
                <a:solidFill>
                  <a:srgbClr val="FFFFFF"/>
                </a:solidFill>
              </a:rPr>
              <a:t>R</a:t>
            </a:r>
          </a:p>
        </p:txBody>
      </p:sp>
      <p:sp>
        <p:nvSpPr>
          <p:cNvPr id="33" name="Rectangle 32"/>
          <p:cNvSpPr/>
          <p:nvPr/>
        </p:nvSpPr>
        <p:spPr>
          <a:xfrm>
            <a:off x="182880" y="4590288"/>
            <a:ext cx="2286000" cy="438912"/>
          </a:xfrm>
          <a:prstGeom prst="rect">
            <a:avLst/>
          </a:prstGeom>
          <a:solidFill>
            <a:srgbClr val="F2F3F4"/>
          </a:solidFill>
          <a:ln w="12700">
            <a:solidFill>
              <a:srgbClr val="7F8C8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0">
                <a:solidFill>
                  <a:srgbClr val="2C3E50"/>
                </a:solidFill>
              </a:rPr>
              <a:t>Interactive Dashboard</a:t>
            </a:r>
          </a:p>
        </p:txBody>
      </p:sp>
      <p:sp>
        <p:nvSpPr>
          <p:cNvPr id="34" name="Rectangle 33"/>
          <p:cNvSpPr/>
          <p:nvPr/>
        </p:nvSpPr>
        <p:spPr>
          <a:xfrm>
            <a:off x="2560320" y="4590288"/>
            <a:ext cx="2560320" cy="438912"/>
          </a:xfrm>
          <a:prstGeom prst="rect">
            <a:avLst/>
          </a:prstGeom>
          <a:solidFill>
            <a:srgbClr val="F2F3F4"/>
          </a:solidFill>
          <a:ln w="12700">
            <a:solidFill>
              <a:srgbClr val="7F8C8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0">
                <a:solidFill>
                  <a:srgbClr val="2E86C1"/>
                </a:solidFill>
              </a:rPr>
              <a:t>✅ Streamlit/Dash</a:t>
            </a:r>
          </a:p>
        </p:txBody>
      </p:sp>
      <p:sp>
        <p:nvSpPr>
          <p:cNvPr id="35" name="Rectangle 34"/>
          <p:cNvSpPr/>
          <p:nvPr/>
        </p:nvSpPr>
        <p:spPr>
          <a:xfrm>
            <a:off x="5303520" y="4590288"/>
            <a:ext cx="2286000" cy="438912"/>
          </a:xfrm>
          <a:prstGeom prst="rect">
            <a:avLst/>
          </a:prstGeom>
          <a:solidFill>
            <a:srgbClr val="F2F3F4"/>
          </a:solidFill>
          <a:ln w="12700">
            <a:solidFill>
              <a:srgbClr val="7F8C8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0">
                <a:solidFill>
                  <a:srgbClr val="E67E22"/>
                </a:solidFill>
              </a:rPr>
              <a:t>✅ Shiny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772400" y="4590288"/>
            <a:ext cx="1188720" cy="438912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0">
                <a:solidFill>
                  <a:srgbClr val="FFFFFF"/>
                </a:solidFill>
              </a:rPr>
              <a:t>Both</a:t>
            </a:r>
          </a:p>
        </p:txBody>
      </p:sp>
      <p:sp>
        <p:nvSpPr>
          <p:cNvPr id="37" name="Rectangle 36"/>
          <p:cNvSpPr/>
          <p:nvPr/>
        </p:nvSpPr>
        <p:spPr>
          <a:xfrm>
            <a:off x="182880" y="5065776"/>
            <a:ext cx="228600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7F8C8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0">
                <a:solidFill>
                  <a:srgbClr val="2C3E50"/>
                </a:solidFill>
              </a:rPr>
              <a:t>Sentiment / NLP</a:t>
            </a:r>
          </a:p>
        </p:txBody>
      </p:sp>
      <p:sp>
        <p:nvSpPr>
          <p:cNvPr id="38" name="Rectangle 37"/>
          <p:cNvSpPr/>
          <p:nvPr/>
        </p:nvSpPr>
        <p:spPr>
          <a:xfrm>
            <a:off x="2560320" y="5065776"/>
            <a:ext cx="256032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7F8C8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0">
                <a:solidFill>
                  <a:srgbClr val="2E86C1"/>
                </a:solidFill>
              </a:rPr>
              <a:t>✅ HuggingFace</a:t>
            </a:r>
          </a:p>
        </p:txBody>
      </p:sp>
      <p:sp>
        <p:nvSpPr>
          <p:cNvPr id="39" name="Rectangle 38"/>
          <p:cNvSpPr/>
          <p:nvPr/>
        </p:nvSpPr>
        <p:spPr>
          <a:xfrm>
            <a:off x="5303520" y="5065776"/>
            <a:ext cx="228600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7F8C8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0">
                <a:solidFill>
                  <a:srgbClr val="7F8C8D"/>
                </a:solidFill>
              </a:rPr>
              <a:t>❌ limited</a:t>
            </a:r>
          </a:p>
        </p:txBody>
      </p:sp>
      <p:sp>
        <p:nvSpPr>
          <p:cNvPr id="40" name="Rectangle 39"/>
          <p:cNvSpPr/>
          <p:nvPr/>
        </p:nvSpPr>
        <p:spPr>
          <a:xfrm>
            <a:off x="7772400" y="5065776"/>
            <a:ext cx="1188720" cy="438912"/>
          </a:xfrm>
          <a:prstGeom prst="rect">
            <a:avLst/>
          </a:prstGeom>
          <a:solidFill>
            <a:srgbClr val="1E8B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0">
                <a:solidFill>
                  <a:srgbClr val="FFFFFF"/>
                </a:solidFill>
              </a:rPr>
              <a:t>Python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4E7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37160"/>
            <a:ext cx="85953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</a:rPr>
              <a:t>Key Results — Test Period (Dec 2023 – Dec 2024)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1005840"/>
            <a:ext cx="2560320" cy="548640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</a:rPr>
              <a:t>DSR Constrained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600200"/>
            <a:ext cx="2560320" cy="10058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200" b="1">
                <a:solidFill>
                  <a:srgbClr val="2E86C1"/>
                </a:solidFill>
              </a:rPr>
              <a:t>52.6%
ann. return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2651760"/>
            <a:ext cx="2560320" cy="548640"/>
          </a:xfrm>
          <a:prstGeom prst="rect">
            <a:avLst/>
          </a:prstGeom>
          <a:solidFill>
            <a:srgbClr val="F2F3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0">
                <a:solidFill>
                  <a:srgbClr val="2C3E50"/>
                </a:solidFill>
              </a:rPr>
              <a:t>Sharpe  2.51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3246120"/>
            <a:ext cx="2560320" cy="548640"/>
          </a:xfrm>
          <a:prstGeom prst="rect">
            <a:avLst/>
          </a:prstGeom>
          <a:solidFill>
            <a:srgbClr val="F2F3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0">
                <a:solidFill>
                  <a:srgbClr val="C0392B"/>
                </a:solidFill>
              </a:rPr>
              <a:t>Max DD  14.3%</a:t>
            </a:r>
          </a:p>
        </p:txBody>
      </p:sp>
      <p:sp>
        <p:nvSpPr>
          <p:cNvPr id="8" name="Rectangle 7"/>
          <p:cNvSpPr/>
          <p:nvPr/>
        </p:nvSpPr>
        <p:spPr>
          <a:xfrm>
            <a:off x="3291840" y="1005840"/>
            <a:ext cx="2560320" cy="548640"/>
          </a:xfrm>
          <a:prstGeom prst="rect">
            <a:avLst/>
          </a:prstGeom>
          <a:solidFill>
            <a:srgbClr val="8E44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</a:rPr>
              <a:t>DSR Unconstrained</a:t>
            </a:r>
          </a:p>
        </p:txBody>
      </p:sp>
      <p:sp>
        <p:nvSpPr>
          <p:cNvPr id="9" name="Rectangle 8"/>
          <p:cNvSpPr/>
          <p:nvPr/>
        </p:nvSpPr>
        <p:spPr>
          <a:xfrm>
            <a:off x="3291840" y="1600200"/>
            <a:ext cx="2560320" cy="10058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200" b="1">
                <a:solidFill>
                  <a:srgbClr val="8E44AD"/>
                </a:solidFill>
              </a:rPr>
              <a:t>69.1%
ann. return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91840" y="2651760"/>
            <a:ext cx="2560320" cy="548640"/>
          </a:xfrm>
          <a:prstGeom prst="rect">
            <a:avLst/>
          </a:prstGeom>
          <a:solidFill>
            <a:srgbClr val="F2F3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0">
                <a:solidFill>
                  <a:srgbClr val="2C3E50"/>
                </a:solidFill>
              </a:rPr>
              <a:t>Sharpe  3.02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91840" y="3246120"/>
            <a:ext cx="2560320" cy="548640"/>
          </a:xfrm>
          <a:prstGeom prst="rect">
            <a:avLst/>
          </a:prstGeom>
          <a:solidFill>
            <a:srgbClr val="F2F3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0">
                <a:solidFill>
                  <a:srgbClr val="C0392B"/>
                </a:solidFill>
              </a:rPr>
              <a:t>Max DD  12.9%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17920" y="1005840"/>
            <a:ext cx="2560320" cy="548640"/>
          </a:xfrm>
          <a:prstGeom prst="rect">
            <a:avLst/>
          </a:prstGeom>
          <a:solidFill>
            <a:srgbClr val="7F8C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</a:rPr>
              <a:t>Equal Weight
(benchmark)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217920" y="1600200"/>
            <a:ext cx="2560320" cy="10058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200" b="1">
                <a:solidFill>
                  <a:srgbClr val="7F8C8D"/>
                </a:solidFill>
              </a:rPr>
              <a:t>43.2%
ann. return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217920" y="2651760"/>
            <a:ext cx="2560320" cy="548640"/>
          </a:xfrm>
          <a:prstGeom prst="rect">
            <a:avLst/>
          </a:prstGeom>
          <a:solidFill>
            <a:srgbClr val="F2F3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0">
                <a:solidFill>
                  <a:srgbClr val="2C3E50"/>
                </a:solidFill>
              </a:rPr>
              <a:t>Sharpe  2.13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217920" y="3246120"/>
            <a:ext cx="2560320" cy="548640"/>
          </a:xfrm>
          <a:prstGeom prst="rect">
            <a:avLst/>
          </a:prstGeom>
          <a:solidFill>
            <a:srgbClr val="F2F3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0">
                <a:solidFill>
                  <a:srgbClr val="C0392B"/>
                </a:solidFill>
              </a:rPr>
              <a:t>Max DD  14.4%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" y="3977639"/>
            <a:ext cx="84124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AED6F1"/>
                </a:solidFill>
              </a:rPr>
              <a:t>DSR Constrained beats Equal Weight by +9.4 pp annualised return  with a meaningfully higher Sharpe ratio and similar drawdown.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5760" y="4709160"/>
            <a:ext cx="8412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7F8C8D"/>
                </a:solidFill>
              </a:rPr>
              <a:t>Model trained: 2018–2024  ·  5 assets  ·  60-day lookback  ·  LSTM (128→64)  ·  DSR loss (η=0.01)  ·  PortfolioAnalytics constraints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5760" y="5440680"/>
            <a:ext cx="84124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</a:rPr>
              <a:t>Thanks for listening   —   Questions?</a:t>
            </a:r>
          </a:p>
        </p:txBody>
      </p:sp>
      <p:sp>
        <p:nvSpPr>
          <p:cNvPr id="19" name="Rectangle 18"/>
          <p:cNvSpPr/>
          <p:nvPr/>
        </p:nvSpPr>
        <p:spPr>
          <a:xfrm>
            <a:off x="0" y="6766560"/>
            <a:ext cx="9144000" cy="91440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